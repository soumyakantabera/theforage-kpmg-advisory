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Healthy Co. Operational Efficiency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Urgent Care Wait Time Reduction Strategy | Data-Driven Insights &amp; Leading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  <a:latin typeface="Calibri"/>
              </a:defRPr>
            </a:pPr>
            <a:r>
              <a:t>Client: Healthy Co</a:t>
            </a:r>
            <a:br/>
            <a:r>
              <a:t>25 Facilities | 3,000 Employees | 10,000 Patients</a:t>
            </a:r>
            <a:br/>
            <a:r>
              <a:t>Prepared by: KPMG Advisory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560320"/>
            <a:ext cx="4846320" cy="2011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OPPORTUNITY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Peak waits up to 48.3 min</a:t>
            </a:r>
            <a:br/>
            <a:r>
              <a:t>$180-250K annual savings potential</a:t>
            </a:r>
            <a:br/>
            <a:r>
              <a:t>15-28% reduction achievable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Calibri"/>
              </a:defRPr>
            </a:pPr>
            <a:r>
              <a:t>CONFIDENTIAL | For Healthy Co. Leadership | KPMG Advisory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Purpose: Data-driven review of Healthy Co wait times (4,984 visits analyzed) identified clear operational opportunities aligned with leading practices from research.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Key Insight 1 - Peak Demand: Waits spike &gt;40 min during 9-10am, 12-1pm, and 6-7pm (peak 48.3 min at noon); these 4 hours drive ~35% of total wait costs.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Key Insight 2 - Staffing Variation: 35% spread in nurse vitals times (4.18 vs 5.67 min); Dr. Balla outlier at 29.6 min doctor wait ($1,482/visit cost) vs peers ~21.5 min.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Leading Practice 1: Predictive staff scheduling (15% wait reduction, 12% utilization gain in national urgent care case study) - directly targets Healthy Co peaks and high-cost providers.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Leading Practice 2: Targeted retraining + workflow streamlining + block scheduling (28% median wait reduction in peer-reviewed urgent care study) - addresses variation and Group 1 complexity.</a:t>
            </a:r>
          </a:p>
          <a:p>
            <a:pPr>
              <a:spcAft>
                <a:spcPts val="6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Recommended Impact: 20-30%+ wait reduction, $180-250K annual savings, improved patient satisfaction; pilot at 3-5 high-volume sites then scale across 25 facilities in 90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Insights: Clear Opportunities in Peaks, Variation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Peak Hour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</a:defRPr>
            </a:pPr>
            <a:r>
              <a:t>• 12pm: 48.3 min avg wait (highest)</a:t>
            </a:r>
            <a:br/>
            <a:r>
              <a:t>• 9am: 47.6 min | 7pm: 46.4 min</a:t>
            </a:r>
            <a:br/>
            <a:r>
              <a:t>• 6pm: 43.7 min (all &gt;40 min threshold)</a:t>
            </a:r>
            <a:br/>
            <a:r>
              <a:t>• These 4 hours = ~35% of total wait costs</a:t>
            </a:r>
            <a:br/>
            <a:r>
              <a:t>• Recommendation: Dynamic staffing + SMS reminders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Staffing Variation (High Cost)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</a:defRPr>
            </a:pPr>
            <a:r>
              <a:t>Nurses: 35% spread (Birdsall 4.18min fastest vs Banu 5.67min); Knight highest cost ($166/visit extra)</a:t>
            </a:r>
            <a:br/>
            <a:br/>
            <a:r>
              <a:t>Doctors: Dr. Balla 29.6min wait ($1,482/visit) vs peers 21.4-21.9min - 36% outlier</a:t>
            </a:r>
            <a:br/>
            <a:br/>
            <a:r>
              <a:t>Opportunity: Targeted retraining + predictive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051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Diagnosis Group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</a:defRPr>
            </a:pPr>
            <a:r>
              <a:t>Group 3 (59% volume): Shortest visits (56.4min) - ideal for Fast-Track</a:t>
            </a:r>
            <a:br/>
            <a:br/>
            <a:r>
              <a:t>Group 1 (12% volume): Longest (61.7min) - complex cases need dedicated pods</a:t>
            </a:r>
            <a:br/>
            <a:br/>
            <a:r>
              <a:t>Total avg wait: 39.7 min | 4,984 visits analyzed</a:t>
            </a:r>
            <a:br/>
            <a:br/>
            <a:r>
              <a:t>Opportunity: Block scheduling for Group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657600"/>
            <a:ext cx="11612880" cy="822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1A2E"/>
                </a:solidFill>
              </a:defRPr>
            </a:pPr>
            <a:r>
              <a:t>Core Finding: Wait times driven by predictable peaks + staffing variation + case mix complexity. These are addressable with data-driven scheduling and targeted process improvements - no major capital investment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663440"/>
            <a:ext cx="2743200" cy="77724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48.3 min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Peak at 12pm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663440"/>
            <a:ext cx="274320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$1,482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Dr. Balla cost/visit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663440"/>
            <a:ext cx="2743200" cy="77724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35%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Nurse time spread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663440"/>
            <a:ext cx="274320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59%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Group 3 volume (fast-track)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Leading Practices: Evidence-Based Strategies for Healthy 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5669280" cy="2560320"/>
          </a:xfrm>
          <a:prstGeom prst="roundRect">
            <a:avLst/>
          </a:prstGeom>
          <a:solidFill>
            <a:srgbClr val="F4F6F9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8D"/>
                </a:solidFill>
              </a:defRPr>
            </a:pPr>
            <a:r>
              <a:t>1. Predictive Staff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</a:defRPr>
            </a:pPr>
            <a:r>
              <a:t>Source: National urgent care case study (2024)</a:t>
            </a:r>
            <a:br/>
            <a:br/>
            <a:r>
              <a:t>• AI-powered intake + predictive analytics align staffing to real-time demand</a:t>
            </a:r>
            <a:br/>
            <a:r>
              <a:t>• Results: 15% wait time reduction, 12% staff utilization improvement</a:t>
            </a:r>
            <a:br/>
            <a:br/>
            <a:r>
              <a:t>Fit to Healthy Co:</a:t>
            </a:r>
            <a:br/>
            <a:r>
              <a:t>• Directly targets 9-10am/12-1pm/6-7pm peaks</a:t>
            </a:r>
            <a:br/>
            <a:r>
              <a:t>• Addresses Dr. Balla &amp; high-cost nurse variation</a:t>
            </a:r>
            <a:br/>
            <a:r>
              <a:t>• Realistic: Leverage existing visit data; phased rollout</a:t>
            </a:r>
            <a:br/>
            <a:r>
              <a:t>• Barrier: Initial tech investment (ROI &lt;6 months)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669280" cy="2560320"/>
          </a:xfrm>
          <a:prstGeom prst="roundRect">
            <a:avLst/>
          </a:prstGeom>
          <a:solidFill>
            <a:srgbClr val="F4F6F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2. Staff Retraining + Workflow Streamlining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</a:defRPr>
            </a:pPr>
            <a:r>
              <a:t>Source: Peer-reviewed urgent care study (2025)</a:t>
            </a:r>
            <a:br/>
            <a:br/>
            <a:r>
              <a:t>• Block scheduling + targeted retraining + workflow redesign</a:t>
            </a:r>
            <a:br/>
            <a:r>
              <a:t>• Results: 28% median wait reduction (3h45m to 2h40m); registration -6min, triage -8min, consult -12min</a:t>
            </a:r>
            <a:br/>
            <a:br/>
            <a:r>
              <a:t>Fit to Healthy Co:</a:t>
            </a:r>
            <a:br/>
            <a:r>
              <a:t>• Tackles 35% nurse time spread &amp; doctor outliers</a:t>
            </a:r>
            <a:br/>
            <a:r>
              <a:t>• Low-tech, leverages current staff (no major capex)</a:t>
            </a:r>
            <a:br/>
            <a:r>
              <a:t>• Group 3 Fast-Track for 59% volume (high impact)</a:t>
            </a:r>
            <a:br/>
            <a:r>
              <a:t>• Barrier: Sustaining adherence (mitigate with dashboards)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11612880" cy="100584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Why These Practices? Both realistic for 25-facility scale, directly address Task 2 findings (peaks + variation + case mix), and have proven 15-28% wait reductions in urgent care settings. Combined impact: 20-30%+ reduction, $180-250K annual savings. Low implementation risk with phased pilots at high-volume sites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6464"/>
                </a:solidFill>
              </a:defRPr>
            </a:pPr>
            <a:r>
              <a:t>Evidence Base: 15%/12% gains in national urgent care (post-acquisition context) + 28% median reduction with p=0.025 statistical validation. Both align with 2025-2026 healthcare efficiency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Recommended Next Steps &amp;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11612880" cy="1280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1: Quick Wins (0-30 days)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Pilot predictive scheduling at 3-5 high-volume sites (focus 12pm &amp; 6-7pm peaks)</a:t>
            </a:r>
            <a:br/>
            <a:r>
              <a:t>• Targeted retraining for top variation areas (Dr. Balla, Knight/Banu nurses)</a:t>
            </a:r>
            <a:br/>
            <a:r>
              <a:t>• Deploy existing Task 2 metrics dashboard for real-time monitoring</a:t>
            </a:r>
            <a:br/>
            <a:r>
              <a:t>• Expected: 10-15% wait reduction in pilot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68880"/>
            <a:ext cx="11612880" cy="128016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2: Scale &amp; Standardize (30-90 days)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Roll out block scheduling + workflow streamlining across all 25 facilities</a:t>
            </a:r>
            <a:br/>
            <a:r>
              <a:t>• Centralized analytics for ongoing peak forecasting &amp; staff optimization</a:t>
            </a:r>
            <a:br/>
            <a:r>
              <a:t>• Group 3 Fast-Track lanes at high-volume locations (59% volume opportunity)</a:t>
            </a:r>
            <a:br/>
            <a:r>
              <a:t>• Expected: Full 20-28% reduction, $180-250K annualized savings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86200"/>
            <a:ext cx="11612880" cy="12801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77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Phase 3: Sustain &amp; Optimize (90+ days)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Embed adherence monitoring + quarterly retraining refreshers</a:t>
            </a:r>
            <a:br/>
            <a:r>
              <a:t>• Integrate patient satisfaction (NPS) tracking alongside wait cost metrics</a:t>
            </a:r>
            <a:br/>
            <a:r>
              <a:t>• Explore AI expansion based on Phase 1-2 learnings</a:t>
            </a:r>
            <a:br/>
            <a:r>
              <a:t>• Long-term: Self-sustaining efficiency culture with &lt;30 min avg waits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1A2E"/>
                </a:solidFill>
              </a:defRPr>
            </a:pPr>
            <a:r>
              <a:t>Immediate Ask: Approve pilot scope &amp; budget for Phase 1 (est. 4-6 weeks to first measurable results). Ready to begin stakeholder alignment next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Self-Reflection: Presentation &amp; Analysis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5669280" cy="237744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What I Did Well /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2E"/>
                </a:solidFill>
              </a:defRPr>
            </a:pPr>
            <a:r>
              <a:t>• Strong data-to-insight linkage: Tied Task 2 peaks/variation directly to Task 3 practices with specific client metrics (Dr. Balla $1,482, 35% nurse spread, Group 3 59% volume).</a:t>
            </a:r>
            <a:br/>
            <a:br/>
            <a:r>
              <a:t>• Clear executive narrative: Sequenced from problem to evidence-based solutions to quantified impact ($180-250K) to actionable roadmap.</a:t>
            </a:r>
            <a:br/>
            <a:br/>
            <a:r>
              <a:t>• Visual hierarchy: Color-coded columns, stat callouts, and insight bars for quick comprehension by busy leaders.</a:t>
            </a:r>
            <a:br/>
            <a:br/>
            <a:r>
              <a:t>• Client-centric framing: Every recommendation references Healthy Co's 25 facilities and existing data assets.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669280" cy="2377440"/>
          </a:xfrm>
          <a:prstGeom prst="roundRect">
            <a:avLst/>
          </a:prstGeom>
          <a:solidFill>
            <a:srgbClr val="FFF3E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7E22"/>
                </a:solidFill>
              </a:defRPr>
            </a:pPr>
            <a:r>
              <a:t>Areas for Improvement / Next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2E"/>
                </a:solidFill>
              </a:defRPr>
            </a:pPr>
            <a:r>
              <a:t>• More data visualizations: Embed actual bar charts from Task 2 Excel (wait-by-hour, nurse/doctor comparisons) to increase credibility and impact.</a:t>
            </a:r>
            <a:br/>
            <a:br/>
            <a:r>
              <a:t>• Tighter executive summary: Aim for 4 crisp bullets next time (purpose + 2 insights + combined impact + ask).</a:t>
            </a:r>
            <a:br/>
            <a:br/>
            <a:r>
              <a:t>• Practice pacing: Allocate more time to 'Why These Practices?' section; prepare 1-2 backup slides for Q&amp;A on cost assumptions.</a:t>
            </a:r>
            <a:br/>
            <a:br/>
            <a:r>
              <a:t>• Audience tailoring: For engagement leadership, add more on change management risks and exact pilot KPIs.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1A1A2E"/>
                </a:solidFill>
              </a:defRPr>
            </a:pPr>
            <a:r>
              <a:t>Overall Reflection: This exercise reinforced the power of combining rigorous data analysis (Task 2) with credible, client-specific research (Task 3) to create a compelling, evidence-backed story. The presentation flows logically from 'what the data tells us' to 'what leading practice says works' to 'what we should do next.' Key learning: Always ground recommendations in the client's own metrics and constraints - it builds trust and makes the case undeniable. For future decks, I will front-load more visuals and ruthlessly edit for brevity while preserving the 'so what' at every 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38D"/>
                </a:solidFill>
              </a:defRPr>
            </a:pPr>
            <a:r>
              <a:t>Thank you | Questions? | Ready to begin Phase 1 pilot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  <a:latin typeface="Calibri"/>
              </a:defRPr>
            </a:pPr>
            <a:r>
              <a:t>Self-Reflection completed after recording and reviewing delivery | Strengths: Data linkage, narrative flow, client-centric | Focus: Visuals, brevity, Q&amp;A prep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